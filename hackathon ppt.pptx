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7" r:id="rId2"/>
    <p:sldId id="258" r:id="rId3"/>
    <p:sldId id="259" r:id="rId4"/>
    <p:sldId id="260" r:id="rId5"/>
    <p:sldId id="261" r:id="rId6"/>
    <p:sldId id="262" r:id="rId7"/>
    <p:sldId id="263"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17" name="Footer Placeholder 16"/>
          <p:cNvSpPr>
            <a:spLocks noGrp="1"/>
          </p:cNvSpPr>
          <p:nvPr>
            <p:ph type="ftr" sz="quarter" idx="11"/>
          </p:nvPr>
        </p:nvSpPr>
        <p:spPr/>
        <p:txBody>
          <a:bodyPr/>
          <a:lstStyle>
            <a:extLst/>
          </a:lstStyle>
          <a:p>
            <a:endParaRPr lang="en-US" dirty="0"/>
          </a:p>
        </p:txBody>
      </p:sp>
      <p:sp>
        <p:nvSpPr>
          <p:cNvPr id="29" name="Slide Number Placeholder 28"/>
          <p:cNvSpPr>
            <a:spLocks noGrp="1"/>
          </p:cNvSpPr>
          <p:nvPr>
            <p:ph type="sldNum" sz="quarter" idx="12"/>
          </p:nvPr>
        </p:nvSpPr>
        <p:spPr/>
        <p:txBody>
          <a:bodyPr/>
          <a:lstStyle>
            <a:extLst/>
          </a:lstStyle>
          <a:p>
            <a:fld id="{408A21E8-768F-451D-A342-C44639C59A1C}" type="slidenum">
              <a:rPr lang="en-US" smtClean="0"/>
              <a:pPr/>
              <a:t>‹#›</a:t>
            </a:fld>
            <a:endParaRPr lang="en-US" dirty="0"/>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408A21E8-768F-451D-A342-C44639C59A1C}"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408A21E8-768F-451D-A342-C44639C59A1C}" type="slidenum">
              <a:rPr lang="en-US" smtClean="0"/>
              <a:pPr/>
              <a:t>‹#›</a:t>
            </a:fld>
            <a:endParaRPr lang="en-US" dirty="0"/>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408A21E8-768F-451D-A342-C44639C59A1C}"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408A21E8-768F-451D-A342-C44639C59A1C}" type="slidenum">
              <a:rPr lang="en-US" smtClean="0"/>
              <a:pPr/>
              <a:t>‹#›</a:t>
            </a:fld>
            <a:endParaRPr lang="en-US" dirty="0"/>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408A21E8-768F-451D-A342-C44639C59A1C}"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408A21E8-768F-451D-A342-C44639C59A1C}"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408A21E8-768F-451D-A342-C44639C59A1C}"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dirty="0" smtClean="0"/>
              <a:t>Click icon to add picture</a:t>
            </a:r>
            <a:endParaRPr kumimoji="0" lang="en-US" dirty="0"/>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extLst/>
          </a:lstStyle>
          <a:p>
            <a:fld id="{28F40A64-0D44-4180-96D7-C0BA1022ACC1}" type="datetimeFigureOut">
              <a:rPr lang="en-US" smtClean="0"/>
              <a:pPr/>
              <a:t>4/25/2026</a:t>
            </a:fld>
            <a:endParaRPr lang="en-US" dirty="0"/>
          </a:p>
        </p:txBody>
      </p:sp>
      <p:sp>
        <p:nvSpPr>
          <p:cNvPr id="6" name="Footer Placeholder 5"/>
          <p:cNvSpPr>
            <a:spLocks noGrp="1"/>
          </p:cNvSpPr>
          <p:nvPr>
            <p:ph type="ftr" sz="quarter" idx="11"/>
          </p:nvPr>
        </p:nvSpPr>
        <p:spPr>
          <a:xfrm>
            <a:off x="914400" y="55499"/>
            <a:ext cx="5562600" cy="365125"/>
          </a:xfrm>
        </p:spPr>
        <p:txBody>
          <a:bodyPr/>
          <a:lstStyle>
            <a:extLst/>
          </a:lstStyle>
          <a:p>
            <a:endParaRPr lang="en-US" dirty="0"/>
          </a:p>
        </p:txBody>
      </p:sp>
      <p:sp>
        <p:nvSpPr>
          <p:cNvPr id="7" name="Slide Number Placeholder 6"/>
          <p:cNvSpPr>
            <a:spLocks noGrp="1"/>
          </p:cNvSpPr>
          <p:nvPr>
            <p:ph type="sldNum" sz="quarter" idx="12"/>
          </p:nvPr>
        </p:nvSpPr>
        <p:spPr>
          <a:xfrm>
            <a:off x="8610600" y="55499"/>
            <a:ext cx="457200" cy="365125"/>
          </a:xfrm>
        </p:spPr>
        <p:txBody>
          <a:bodyPr/>
          <a:lstStyle>
            <a:extLst/>
          </a:lstStyle>
          <a:p>
            <a:fld id="{408A21E8-768F-451D-A342-C44639C59A1C}"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408A21E8-768F-451D-A342-C44639C59A1C}"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5867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8F40A64-0D44-4180-96D7-C0BA1022ACC1}" type="datetimeFigureOut">
              <a:rPr lang="en-US" smtClean="0"/>
              <a:pPr/>
              <a:t>4/25/2026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408A21E8-768F-451D-A342-C44639C59A1C}"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28F40A64-0D44-4180-96D7-C0BA1022ACC1}" type="datetimeFigureOut">
              <a:rPr lang="en-US" smtClean="0"/>
              <a:pPr/>
              <a:t>4/25/2026</a:t>
            </a:fld>
            <a:endParaRPr lang="en-US" dirty="0"/>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en-US" dirty="0"/>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408A21E8-768F-451D-A342-C44639C59A1C}"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57422" y="714356"/>
            <a:ext cx="4597630" cy="584775"/>
          </a:xfrm>
          <a:prstGeom prst="rect">
            <a:avLst/>
          </a:prstGeom>
          <a:noFill/>
        </p:spPr>
        <p:txBody>
          <a:bodyPr wrap="square" rtlCol="0">
            <a:spAutoFit/>
          </a:bodyPr>
          <a:lstStyle/>
          <a:p>
            <a:pPr algn="ctr"/>
            <a:r>
              <a:rPr lang="en-US" sz="3200" b="1" dirty="0" smtClean="0"/>
              <a:t>PROBLEM STATEMENT</a:t>
            </a:r>
            <a:endParaRPr lang="en-US" sz="3200" b="1" dirty="0"/>
          </a:p>
        </p:txBody>
      </p:sp>
      <p:sp>
        <p:nvSpPr>
          <p:cNvPr id="3" name="Rectangle 2"/>
          <p:cNvSpPr/>
          <p:nvPr/>
        </p:nvSpPr>
        <p:spPr>
          <a:xfrm>
            <a:off x="1142976" y="1500174"/>
            <a:ext cx="6929486" cy="3785652"/>
          </a:xfrm>
          <a:prstGeom prst="rect">
            <a:avLst/>
          </a:prstGeom>
        </p:spPr>
        <p:txBody>
          <a:bodyPr wrap="square">
            <a:spAutoFit/>
          </a:bodyPr>
          <a:lstStyle/>
          <a:p>
            <a:pPr algn="just"/>
            <a:r>
              <a:rPr lang="en-US" sz="2000" dirty="0" smtClean="0"/>
              <a:t>Existing fraud detection systems mainly focus on SMS or email and do not analyze live phone call conversations, which are a major source of scams in India, especially with the rise of digital payments through Unified Payments Interface. They lack the ability to understand spoken language, context, and social engineering tactics such as urgency, fear, or impersonation used by fraudsters. As a result, users do not receive real-time warnings during calls and often realize the fraud only after financial loss. Our model addresses this gap by analyzing recorded phone calls, converting speech to text, and using natural language processing to detect fraudulent intent and classify calls as safe or fraud in real time.</a:t>
            </a:r>
            <a:endParaRPr 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428604"/>
            <a:ext cx="7500990" cy="584775"/>
          </a:xfrm>
          <a:prstGeom prst="rect">
            <a:avLst/>
          </a:prstGeom>
          <a:noFill/>
        </p:spPr>
        <p:txBody>
          <a:bodyPr wrap="square" rtlCol="0">
            <a:spAutoFit/>
          </a:bodyPr>
          <a:lstStyle/>
          <a:p>
            <a:r>
              <a:rPr lang="en-US" sz="3200" b="1" dirty="0" smtClean="0"/>
              <a:t>                  SOLUTION APPROACH</a:t>
            </a:r>
            <a:endParaRPr lang="en-US" sz="3200" b="1" dirty="0"/>
          </a:p>
        </p:txBody>
      </p:sp>
      <p:sp>
        <p:nvSpPr>
          <p:cNvPr id="3" name="TextBox 2"/>
          <p:cNvSpPr txBox="1"/>
          <p:nvPr/>
        </p:nvSpPr>
        <p:spPr>
          <a:xfrm>
            <a:off x="642910" y="1357298"/>
            <a:ext cx="8143932" cy="3447098"/>
          </a:xfrm>
          <a:prstGeom prst="rect">
            <a:avLst/>
          </a:prstGeom>
          <a:noFill/>
        </p:spPr>
        <p:txBody>
          <a:bodyPr wrap="square" rtlCol="0">
            <a:spAutoFit/>
          </a:bodyPr>
          <a:lstStyle/>
          <a:p>
            <a:r>
              <a:rPr lang="en-US" sz="2000" dirty="0" smtClean="0"/>
              <a:t>Our model improves existing systems by introducing </a:t>
            </a:r>
            <a:r>
              <a:rPr lang="en-US" sz="2000" b="1" dirty="0" smtClean="0"/>
              <a:t>voice-based fraud detection</a:t>
            </a:r>
            <a:r>
              <a:rPr lang="en-US" sz="2000" dirty="0" smtClean="0"/>
              <a:t> that analyzes phone call conversations in real time. It uses the Whisper model to accurately convert speech into text, even in noisy or natural conversational settings. The transcribed text is then processed using Whisper Model to understand the </a:t>
            </a:r>
            <a:r>
              <a:rPr lang="en-US" sz="2000" b="1" dirty="0" smtClean="0"/>
              <a:t>context, intent, and social engineering patterns</a:t>
            </a:r>
            <a:r>
              <a:rPr lang="en-US" sz="2000" dirty="0" smtClean="0"/>
              <a:t> such as urgency, fear, and impersonation. Unlike traditional systems that only focus on SMS or emails, our model detects fraud directly from calls and classifies them as </a:t>
            </a:r>
            <a:r>
              <a:rPr lang="en-US" sz="2000" b="1" dirty="0" smtClean="0"/>
              <a:t>fraud or safe</a:t>
            </a:r>
            <a:r>
              <a:rPr lang="en-US" sz="2000" dirty="0" smtClean="0"/>
              <a:t>, providing timely alerts and helping prevent financial scams, especially those related to Unified Payments Interface.</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71802" y="857232"/>
            <a:ext cx="3071675" cy="584775"/>
          </a:xfrm>
          <a:prstGeom prst="rect">
            <a:avLst/>
          </a:prstGeom>
          <a:noFill/>
        </p:spPr>
        <p:txBody>
          <a:bodyPr wrap="none" rtlCol="0">
            <a:spAutoFit/>
          </a:bodyPr>
          <a:lstStyle/>
          <a:p>
            <a:pPr algn="ctr"/>
            <a:r>
              <a:rPr lang="en-US" sz="3200" b="1" dirty="0" smtClean="0"/>
              <a:t>ARCHITECTURE</a:t>
            </a:r>
            <a:endParaRPr lang="en-US" sz="3200" b="1" dirty="0"/>
          </a:p>
        </p:txBody>
      </p:sp>
      <p:sp>
        <p:nvSpPr>
          <p:cNvPr id="1026" name="AutoShape 2" descr="Generated image: Fraud detection system architecture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028" name="AutoShape 4" descr="Generated image: Fraud detection system architecture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6" name="Picture 5" descr="s2.png"/>
          <p:cNvPicPr>
            <a:picLocks noChangeAspect="1"/>
          </p:cNvPicPr>
          <p:nvPr/>
        </p:nvPicPr>
        <p:blipFill>
          <a:blip r:embed="rId2"/>
          <a:stretch>
            <a:fillRect/>
          </a:stretch>
        </p:blipFill>
        <p:spPr>
          <a:xfrm>
            <a:off x="785786" y="1714488"/>
            <a:ext cx="7429552" cy="476251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14678" y="857232"/>
            <a:ext cx="2468113" cy="584775"/>
          </a:xfrm>
          <a:prstGeom prst="rect">
            <a:avLst/>
          </a:prstGeom>
          <a:noFill/>
        </p:spPr>
        <p:txBody>
          <a:bodyPr wrap="none" rtlCol="0">
            <a:spAutoFit/>
          </a:bodyPr>
          <a:lstStyle/>
          <a:p>
            <a:pPr algn="ctr"/>
            <a:r>
              <a:rPr lang="en-US" sz="3200" b="1" dirty="0" smtClean="0"/>
              <a:t>TECH STACK</a:t>
            </a:r>
            <a:endParaRPr lang="en-US" sz="3200" b="1" dirty="0"/>
          </a:p>
        </p:txBody>
      </p:sp>
      <p:sp>
        <p:nvSpPr>
          <p:cNvPr id="10" name="Rectangle 9"/>
          <p:cNvSpPr/>
          <p:nvPr/>
        </p:nvSpPr>
        <p:spPr>
          <a:xfrm>
            <a:off x="857224" y="1643050"/>
            <a:ext cx="6072214" cy="4801314"/>
          </a:xfrm>
          <a:prstGeom prst="rect">
            <a:avLst/>
          </a:prstGeom>
        </p:spPr>
        <p:txBody>
          <a:bodyPr wrap="square">
            <a:spAutoFit/>
          </a:bodyPr>
          <a:lstStyle/>
          <a:p>
            <a:pPr marL="342900" indent="-342900"/>
            <a:r>
              <a:rPr lang="en-US" b="1" dirty="0" smtClean="0"/>
              <a:t>1.Technologies</a:t>
            </a:r>
          </a:p>
          <a:p>
            <a:pPr>
              <a:buFont typeface="Arial" pitchFamily="34" charset="0"/>
              <a:buChar char="•"/>
            </a:pPr>
            <a:r>
              <a:rPr lang="en-US" dirty="0" smtClean="0"/>
              <a:t>Python </a:t>
            </a:r>
          </a:p>
          <a:p>
            <a:pPr>
              <a:buFont typeface="Arial" pitchFamily="34" charset="0"/>
              <a:buChar char="•"/>
            </a:pPr>
            <a:r>
              <a:rPr lang="en-US" dirty="0" smtClean="0"/>
              <a:t>HTML </a:t>
            </a:r>
          </a:p>
          <a:p>
            <a:pPr>
              <a:buFont typeface="Arial" pitchFamily="34" charset="0"/>
              <a:buChar char="•"/>
            </a:pPr>
            <a:endParaRPr lang="en-US" dirty="0" smtClean="0"/>
          </a:p>
          <a:p>
            <a:pPr marL="342900" indent="-342900"/>
            <a:r>
              <a:rPr lang="en-US" b="1" dirty="0" smtClean="0"/>
              <a:t>2. Frameworks / Models</a:t>
            </a:r>
          </a:p>
          <a:p>
            <a:pPr>
              <a:buFont typeface="Arial" pitchFamily="34" charset="0"/>
              <a:buChar char="•"/>
            </a:pPr>
            <a:r>
              <a:rPr lang="en-US" dirty="0" smtClean="0"/>
              <a:t>Whisper</a:t>
            </a:r>
          </a:p>
          <a:p>
            <a:pPr>
              <a:buFont typeface="Arial" pitchFamily="34" charset="0"/>
              <a:buChar char="•"/>
            </a:pPr>
            <a:r>
              <a:rPr lang="en-US" dirty="0" smtClean="0"/>
              <a:t>Transformers</a:t>
            </a:r>
          </a:p>
          <a:p>
            <a:pPr>
              <a:buFont typeface="Arial" pitchFamily="34" charset="0"/>
              <a:buChar char="•"/>
            </a:pPr>
            <a:r>
              <a:rPr lang="en-US" dirty="0" smtClean="0"/>
              <a:t>Streamlet</a:t>
            </a:r>
          </a:p>
          <a:p>
            <a:pPr>
              <a:buFont typeface="Arial" pitchFamily="34" charset="0"/>
              <a:buChar char="•"/>
            </a:pPr>
            <a:r>
              <a:rPr lang="en-US" dirty="0" smtClean="0"/>
              <a:t>Flask</a:t>
            </a:r>
          </a:p>
          <a:p>
            <a:pPr>
              <a:buFont typeface="Arial" pitchFamily="34" charset="0"/>
              <a:buChar char="•"/>
            </a:pPr>
            <a:r>
              <a:rPr lang="en-US" dirty="0" smtClean="0"/>
              <a:t>Jsonify</a:t>
            </a:r>
          </a:p>
          <a:p>
            <a:pPr>
              <a:buFont typeface="Arial" pitchFamily="34" charset="0"/>
              <a:buChar char="•"/>
            </a:pPr>
            <a:r>
              <a:rPr lang="en-US" dirty="0" smtClean="0"/>
              <a:t>Imageio_ffmpeg </a:t>
            </a:r>
          </a:p>
          <a:p>
            <a:pPr>
              <a:buFont typeface="Arial" pitchFamily="34" charset="0"/>
              <a:buChar char="•"/>
            </a:pPr>
            <a:endParaRPr lang="en-US" dirty="0" smtClean="0"/>
          </a:p>
          <a:p>
            <a:r>
              <a:rPr lang="en-US" b="1" dirty="0" smtClean="0"/>
              <a:t>3.Tools</a:t>
            </a:r>
          </a:p>
          <a:p>
            <a:pPr>
              <a:buFont typeface="Arial" pitchFamily="34" charset="0"/>
              <a:buChar char="•"/>
            </a:pPr>
            <a:r>
              <a:rPr lang="en-US" dirty="0" smtClean="0"/>
              <a:t>Spyder (IDE) </a:t>
            </a:r>
          </a:p>
          <a:p>
            <a:pPr>
              <a:buFont typeface="Arial" pitchFamily="34" charset="0"/>
              <a:buChar char="•"/>
            </a:pPr>
            <a:r>
              <a:rPr lang="en-US" b="1" dirty="0" smtClean="0"/>
              <a:t>Summary</a:t>
            </a:r>
          </a:p>
          <a:p>
            <a:pPr>
              <a:buFont typeface="Arial" pitchFamily="34" charset="0"/>
              <a:buChar char="•"/>
            </a:pPr>
            <a:r>
              <a:rPr lang="en-US" dirty="0" smtClean="0"/>
              <a:t>Python-based system using Whisper for speech-to-text with HTML frontend and Python backend.</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57422" y="714356"/>
            <a:ext cx="4087209" cy="584775"/>
          </a:xfrm>
          <a:prstGeom prst="rect">
            <a:avLst/>
          </a:prstGeom>
          <a:noFill/>
        </p:spPr>
        <p:txBody>
          <a:bodyPr wrap="none" rtlCol="0">
            <a:spAutoFit/>
          </a:bodyPr>
          <a:lstStyle/>
          <a:p>
            <a:pPr algn="ctr"/>
            <a:r>
              <a:rPr lang="en-US" sz="3200" dirty="0" smtClean="0"/>
              <a:t>DEMO SCREENSHOTS</a:t>
            </a:r>
            <a:endParaRPr lang="en-US" sz="3200" dirty="0"/>
          </a:p>
        </p:txBody>
      </p:sp>
      <p:pic>
        <p:nvPicPr>
          <p:cNvPr id="30" name="Picture 29" descr="WhatsApp Image 2026-04-25 at 12.14.05.jpeg"/>
          <p:cNvPicPr>
            <a:picLocks noChangeAspect="1"/>
          </p:cNvPicPr>
          <p:nvPr/>
        </p:nvPicPr>
        <p:blipFill>
          <a:blip r:embed="rId2"/>
          <a:stretch>
            <a:fillRect/>
          </a:stretch>
        </p:blipFill>
        <p:spPr>
          <a:xfrm>
            <a:off x="0" y="1214422"/>
            <a:ext cx="4572000" cy="5643578"/>
          </a:xfrm>
          <a:prstGeom prst="rect">
            <a:avLst/>
          </a:prstGeom>
        </p:spPr>
      </p:pic>
      <p:pic>
        <p:nvPicPr>
          <p:cNvPr id="33" name="Picture 32" descr="WhatsApp Image 2026-04-25 at 12.14.05 (1).jpeg"/>
          <p:cNvPicPr>
            <a:picLocks noChangeAspect="1"/>
          </p:cNvPicPr>
          <p:nvPr/>
        </p:nvPicPr>
        <p:blipFill>
          <a:blip r:embed="rId3"/>
          <a:stretch>
            <a:fillRect/>
          </a:stretch>
        </p:blipFill>
        <p:spPr>
          <a:xfrm>
            <a:off x="4429124" y="1214422"/>
            <a:ext cx="4714876" cy="5643578"/>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6-04-25 at 12.14.03.jpeg"/>
          <p:cNvPicPr>
            <a:picLocks noChangeAspect="1"/>
          </p:cNvPicPr>
          <p:nvPr/>
        </p:nvPicPr>
        <p:blipFill>
          <a:blip r:embed="rId2"/>
          <a:stretch>
            <a:fillRect/>
          </a:stretch>
        </p:blipFill>
        <p:spPr>
          <a:xfrm>
            <a:off x="0" y="0"/>
            <a:ext cx="5429256" cy="6858000"/>
          </a:xfrm>
          <a:prstGeom prst="rect">
            <a:avLst/>
          </a:prstGeom>
        </p:spPr>
      </p:pic>
      <p:pic>
        <p:nvPicPr>
          <p:cNvPr id="3" name="Picture 2" descr="WhatsApp Image 2026-04-25 at 12.14.04.jpeg"/>
          <p:cNvPicPr>
            <a:picLocks noChangeAspect="1"/>
          </p:cNvPicPr>
          <p:nvPr/>
        </p:nvPicPr>
        <p:blipFill>
          <a:blip r:embed="rId3"/>
          <a:stretch>
            <a:fillRect/>
          </a:stretch>
        </p:blipFill>
        <p:spPr>
          <a:xfrm>
            <a:off x="5357818" y="0"/>
            <a:ext cx="3786182" cy="68580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8926" y="928670"/>
            <a:ext cx="3029612" cy="584775"/>
          </a:xfrm>
          <a:prstGeom prst="rect">
            <a:avLst/>
          </a:prstGeom>
          <a:noFill/>
        </p:spPr>
        <p:txBody>
          <a:bodyPr wrap="none" rtlCol="0">
            <a:spAutoFit/>
          </a:bodyPr>
          <a:lstStyle/>
          <a:p>
            <a:pPr algn="ctr"/>
            <a:r>
              <a:rPr lang="en-US" sz="3200" b="1" dirty="0" smtClean="0"/>
              <a:t>FUTURE SCOPE</a:t>
            </a:r>
            <a:endParaRPr lang="en-US" sz="3200" b="1" dirty="0"/>
          </a:p>
        </p:txBody>
      </p:sp>
      <p:sp>
        <p:nvSpPr>
          <p:cNvPr id="3" name="Rectangle 2"/>
          <p:cNvSpPr/>
          <p:nvPr/>
        </p:nvSpPr>
        <p:spPr>
          <a:xfrm>
            <a:off x="785786" y="1997838"/>
            <a:ext cx="7500990" cy="1754326"/>
          </a:xfrm>
          <a:prstGeom prst="rect">
            <a:avLst/>
          </a:prstGeom>
        </p:spPr>
        <p:txBody>
          <a:bodyPr wrap="square">
            <a:spAutoFit/>
          </a:bodyPr>
          <a:lstStyle/>
          <a:p>
            <a:pPr algn="just"/>
            <a:r>
              <a:rPr lang="en-US" dirty="0" smtClean="0"/>
              <a:t>The future of multilingual UPI scam detection lies in </a:t>
            </a:r>
            <a:r>
              <a:rPr lang="en-US" b="1" dirty="0" smtClean="0"/>
              <a:t>AI-driven, real-time, and user-aware systems</a:t>
            </a:r>
            <a:r>
              <a:rPr lang="en-US" dirty="0" smtClean="0"/>
              <a:t> that combine </a:t>
            </a:r>
            <a:r>
              <a:rPr lang="en-US" b="1" dirty="0" smtClean="0"/>
              <a:t>speech processing, behavioral analytics, and collaborative intelligence</a:t>
            </a:r>
            <a:r>
              <a:rPr lang="en-US" dirty="0" smtClean="0"/>
              <a:t>. As fraudsters adopt advanced technologies like </a:t>
            </a:r>
            <a:r>
              <a:rPr lang="en-US" dirty="0" err="1" smtClean="0"/>
              <a:t>deepfakes</a:t>
            </a:r>
            <a:r>
              <a:rPr lang="en-US" dirty="0" smtClean="0"/>
              <a:t> and AI-generated scams, detection systems must evolve into </a:t>
            </a:r>
            <a:r>
              <a:rPr lang="en-US" b="1" dirty="0" smtClean="0"/>
              <a:t>adaptive, multilingual, and proactive security frameworks</a:t>
            </a:r>
            <a:r>
              <a:rPr lang="en-US" dirty="0" smtClean="0"/>
              <a:t> to ensure safe digital transactions in India.</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225</TotalTime>
  <Words>342</Words>
  <Application>Microsoft Office PowerPoint</Application>
  <PresentationFormat>On-screen Show (4:3)</PresentationFormat>
  <Paragraphs>25</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Metro</vt:lpstr>
      <vt:lpstr>Slide 1</vt:lpstr>
      <vt:lpstr>Slide 2</vt:lpstr>
      <vt:lpstr>Slide 3</vt:lpstr>
      <vt:lpstr>Slide 4</vt:lpstr>
      <vt:lpstr>Slide 5</vt:lpstr>
      <vt:lpstr>Slide 6</vt:lpstr>
      <vt:lpstr>Slide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abigail_inbox@outlook.com</dc:creator>
  <cp:lastModifiedBy>abigail_inbox@outlook.com</cp:lastModifiedBy>
  <cp:revision>17</cp:revision>
  <dcterms:created xsi:type="dcterms:W3CDTF">2026-04-25T05:17:04Z</dcterms:created>
  <dcterms:modified xsi:type="dcterms:W3CDTF">2026-04-25T09:06:34Z</dcterms:modified>
</cp:coreProperties>
</file>